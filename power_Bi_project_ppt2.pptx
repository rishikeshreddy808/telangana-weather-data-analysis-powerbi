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7" r:id="rId5"/>
    <p:sldId id="268" r:id="rId6"/>
    <p:sldId id="269" r:id="rId7"/>
    <p:sldId id="260" r:id="rId8"/>
    <p:sldId id="275" r:id="rId9"/>
    <p:sldId id="261" r:id="rId10"/>
    <p:sldId id="272" r:id="rId11"/>
    <p:sldId id="262" r:id="rId12"/>
    <p:sldId id="263" r:id="rId13"/>
    <p:sldId id="273" r:id="rId14"/>
    <p:sldId id="274" r:id="rId15"/>
    <p:sldId id="270" r:id="rId16"/>
    <p:sldId id="271" r:id="rId17"/>
    <p:sldId id="266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C808A-8B7C-40EE-8F40-B8BE8059F705}" v="6" dt="2025-11-01T04:30:00.7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kesh reddy Sunkireddy" userId="8807a266e57c368b" providerId="LiveId" clId="{7B8FFC35-BA9F-4397-A30E-048626ED9A70}"/>
    <pc:docChg chg="modSld">
      <pc:chgData name="Rishikesh reddy Sunkireddy" userId="8807a266e57c368b" providerId="LiveId" clId="{7B8FFC35-BA9F-4397-A30E-048626ED9A70}" dt="2025-11-01T04:30:00.777" v="5" actId="1035"/>
      <pc:docMkLst>
        <pc:docMk/>
      </pc:docMkLst>
      <pc:sldChg chg="modSp mod">
        <pc:chgData name="Rishikesh reddy Sunkireddy" userId="8807a266e57c368b" providerId="LiveId" clId="{7B8FFC35-BA9F-4397-A30E-048626ED9A70}" dt="2025-11-01T04:30:00.777" v="5" actId="1035"/>
        <pc:sldMkLst>
          <pc:docMk/>
          <pc:sldMk cId="0" sldId="262"/>
        </pc:sldMkLst>
        <pc:picChg chg="mod">
          <ac:chgData name="Rishikesh reddy Sunkireddy" userId="8807a266e57c368b" providerId="LiveId" clId="{7B8FFC35-BA9F-4397-A30E-048626ED9A70}" dt="2025-11-01T04:30:00.777" v="5" actId="1035"/>
          <ac:picMkLst>
            <pc:docMk/>
            <pc:sldMk cId="0" sldId="262"/>
            <ac:picMk id="3" creationId="{5B3DD117-B403-F2DD-3E21-F79F32E5562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6B42A-EDD9-46AE-8458-38E909735FC4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A7D3E-A68D-4525-B8A9-104B9D20D5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79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A7D3E-A68D-4525-B8A9-104B9D20D59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170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A7D3E-A68D-4525-B8A9-104B9D20D59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505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319"/>
            <a:ext cx="12192000" cy="66040"/>
          </a:xfrm>
          <a:custGeom>
            <a:avLst/>
            <a:gdLst/>
            <a:ahLst/>
            <a:cxnLst/>
            <a:rect l="l" t="t" r="r" b="b"/>
            <a:pathLst>
              <a:path w="12192000" h="66039">
                <a:moveTo>
                  <a:pt x="12192000" y="0"/>
                </a:moveTo>
                <a:lnTo>
                  <a:pt x="0" y="0"/>
                </a:lnTo>
                <a:lnTo>
                  <a:pt x="0" y="65998"/>
                </a:lnTo>
                <a:lnTo>
                  <a:pt x="12192000" y="65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533" y="1737867"/>
            <a:ext cx="9967595" cy="0"/>
          </a:xfrm>
          <a:custGeom>
            <a:avLst/>
            <a:gdLst/>
            <a:ahLst/>
            <a:cxnLst/>
            <a:rect l="l" t="t" r="r" b="b"/>
            <a:pathLst>
              <a:path w="9967595">
                <a:moveTo>
                  <a:pt x="0" y="0"/>
                </a:moveTo>
                <a:lnTo>
                  <a:pt x="9966972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6324" y="926338"/>
            <a:ext cx="420814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319"/>
            <a:ext cx="12192000" cy="66040"/>
          </a:xfrm>
          <a:custGeom>
            <a:avLst/>
            <a:gdLst/>
            <a:ahLst/>
            <a:cxnLst/>
            <a:rect l="l" t="t" r="r" b="b"/>
            <a:pathLst>
              <a:path w="12192000" h="66039">
                <a:moveTo>
                  <a:pt x="12192000" y="0"/>
                </a:moveTo>
                <a:lnTo>
                  <a:pt x="0" y="0"/>
                </a:lnTo>
                <a:lnTo>
                  <a:pt x="0" y="65998"/>
                </a:lnTo>
                <a:lnTo>
                  <a:pt x="12192000" y="65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533" y="1737867"/>
            <a:ext cx="9967595" cy="0"/>
          </a:xfrm>
          <a:custGeom>
            <a:avLst/>
            <a:gdLst/>
            <a:ahLst/>
            <a:cxnLst/>
            <a:rect l="l" t="t" r="r" b="b"/>
            <a:pathLst>
              <a:path w="9967595">
                <a:moveTo>
                  <a:pt x="0" y="0"/>
                </a:moveTo>
                <a:lnTo>
                  <a:pt x="9966972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319"/>
            <a:ext cx="12192000" cy="66040"/>
          </a:xfrm>
          <a:custGeom>
            <a:avLst/>
            <a:gdLst/>
            <a:ahLst/>
            <a:cxnLst/>
            <a:rect l="l" t="t" r="r" b="b"/>
            <a:pathLst>
              <a:path w="12192000" h="66039">
                <a:moveTo>
                  <a:pt x="12192000" y="0"/>
                </a:moveTo>
                <a:lnTo>
                  <a:pt x="0" y="0"/>
                </a:lnTo>
                <a:lnTo>
                  <a:pt x="0" y="65998"/>
                </a:lnTo>
                <a:lnTo>
                  <a:pt x="12192000" y="65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533" y="1737867"/>
            <a:ext cx="9967595" cy="0"/>
          </a:xfrm>
          <a:custGeom>
            <a:avLst/>
            <a:gdLst/>
            <a:ahLst/>
            <a:cxnLst/>
            <a:rect l="l" t="t" r="r" b="b"/>
            <a:pathLst>
              <a:path w="9967595">
                <a:moveTo>
                  <a:pt x="0" y="0"/>
                </a:moveTo>
                <a:lnTo>
                  <a:pt x="9966972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319"/>
            <a:ext cx="12192000" cy="66040"/>
          </a:xfrm>
          <a:custGeom>
            <a:avLst/>
            <a:gdLst/>
            <a:ahLst/>
            <a:cxnLst/>
            <a:rect l="l" t="t" r="r" b="b"/>
            <a:pathLst>
              <a:path w="12192000" h="66039">
                <a:moveTo>
                  <a:pt x="12192000" y="0"/>
                </a:moveTo>
                <a:lnTo>
                  <a:pt x="0" y="0"/>
                </a:lnTo>
                <a:lnTo>
                  <a:pt x="0" y="65998"/>
                </a:lnTo>
                <a:lnTo>
                  <a:pt x="12192000" y="65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533" y="1737867"/>
            <a:ext cx="9967595" cy="0"/>
          </a:xfrm>
          <a:custGeom>
            <a:avLst/>
            <a:gdLst/>
            <a:ahLst/>
            <a:cxnLst/>
            <a:rect l="l" t="t" r="r" b="b"/>
            <a:pathLst>
              <a:path w="9967595">
                <a:moveTo>
                  <a:pt x="0" y="0"/>
                </a:moveTo>
                <a:lnTo>
                  <a:pt x="9966972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4078" y="2011933"/>
            <a:ext cx="4465701" cy="28342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319"/>
            <a:ext cx="12192000" cy="66040"/>
          </a:xfrm>
          <a:custGeom>
            <a:avLst/>
            <a:gdLst/>
            <a:ahLst/>
            <a:cxnLst/>
            <a:rect l="l" t="t" r="r" b="b"/>
            <a:pathLst>
              <a:path w="12192000" h="66039">
                <a:moveTo>
                  <a:pt x="12192000" y="0"/>
                </a:moveTo>
                <a:lnTo>
                  <a:pt x="0" y="0"/>
                </a:lnTo>
                <a:lnTo>
                  <a:pt x="0" y="65998"/>
                </a:lnTo>
                <a:lnTo>
                  <a:pt x="12192000" y="65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8891" y="445770"/>
            <a:ext cx="8639810" cy="12237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6324" y="1692376"/>
            <a:ext cx="5309870" cy="183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43" y="-457200"/>
            <a:ext cx="12183745" cy="6694170"/>
            <a:chOff x="8543" y="97906"/>
            <a:chExt cx="12183745" cy="6694170"/>
          </a:xfrm>
        </p:grpSpPr>
        <p:sp>
          <p:nvSpPr>
            <p:cNvPr id="3" name="object 3"/>
            <p:cNvSpPr/>
            <p:nvPr/>
          </p:nvSpPr>
          <p:spPr>
            <a:xfrm>
              <a:off x="1193533" y="1737867"/>
              <a:ext cx="9967595" cy="0"/>
            </a:xfrm>
            <a:custGeom>
              <a:avLst/>
              <a:gdLst/>
              <a:ahLst/>
              <a:cxnLst/>
              <a:rect l="l" t="t" r="r" b="b"/>
              <a:pathLst>
                <a:path w="9967595">
                  <a:moveTo>
                    <a:pt x="0" y="0"/>
                  </a:moveTo>
                  <a:lnTo>
                    <a:pt x="9966972" y="0"/>
                  </a:lnTo>
                </a:path>
              </a:pathLst>
            </a:custGeom>
            <a:ln w="635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3" y="97906"/>
              <a:ext cx="12183491" cy="669404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743200" y="4096005"/>
            <a:ext cx="86106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800"/>
              <a:t>Telangana Weather Data Analysis</a:t>
            </a:r>
            <a:endParaRPr sz="3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AA300CEF-5AD6-82DA-E6B4-A877C8D73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084" y="6260274"/>
            <a:ext cx="3029373" cy="597599"/>
          </a:xfrm>
          <a:prstGeom prst="rect">
            <a:avLst/>
          </a:prstGeom>
        </p:spPr>
      </p:pic>
      <p:pic>
        <p:nvPicPr>
          <p:cNvPr id="9" name="Picture 8" descr="A black text with red lines&#10;&#10;AI-generated content may be incorrect.">
            <a:extLst>
              <a:ext uri="{FF2B5EF4-FFF2-40B4-BE49-F238E27FC236}">
                <a16:creationId xmlns:a16="http://schemas.microsoft.com/office/drawing/2014/main" id="{8087A5AD-60DF-8E25-E1A5-7FF6BC85EB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5074631"/>
            <a:ext cx="4086795" cy="11622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8890" y="445770"/>
            <a:ext cx="9455709" cy="793370"/>
          </a:xfrm>
          <a:prstGeom prst="rect">
            <a:avLst/>
          </a:prstGeom>
        </p:spPr>
        <p:txBody>
          <a:bodyPr vert="horz" wrap="square" lIns="0" tIns="1151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b="1">
                <a:latin typeface="Calibri"/>
                <a:cs typeface="Calibri"/>
              </a:rPr>
              <a:t>  </a:t>
            </a:r>
            <a:r>
              <a:rPr sz="4400" b="1">
                <a:latin typeface="Calibri"/>
                <a:cs typeface="Calibri"/>
              </a:rPr>
              <a:t>Agenda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1752600"/>
            <a:ext cx="5238115" cy="3562514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60"/>
              </a:spcBef>
              <a:buSzPct val="64285"/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sz="2800">
                <a:latin typeface="Calibri"/>
                <a:cs typeface="Calibri"/>
              </a:rPr>
              <a:t>Project</a:t>
            </a:r>
            <a:r>
              <a:rPr sz="2800" spc="-130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Overview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60"/>
              </a:spcBef>
              <a:buSzPct val="64285"/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sz="2800">
                <a:latin typeface="Calibri"/>
                <a:cs typeface="Calibri"/>
              </a:rPr>
              <a:t>Data</a:t>
            </a:r>
            <a:r>
              <a:rPr sz="2800" spc="-105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Source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60"/>
              </a:spcBef>
              <a:buSzPct val="64285"/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sz="2800">
                <a:latin typeface="Calibri"/>
                <a:cs typeface="Calibri"/>
              </a:rPr>
              <a:t>Data</a:t>
            </a:r>
            <a:r>
              <a:rPr sz="2800" spc="-114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preparation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75"/>
              </a:spcBef>
              <a:buSzPct val="64285"/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sz="2800">
                <a:latin typeface="Calibri"/>
                <a:cs typeface="Calibri"/>
              </a:rPr>
              <a:t>Dashboard</a:t>
            </a:r>
            <a:r>
              <a:rPr sz="2800" spc="-135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Visualizations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60"/>
              </a:spcBef>
              <a:buSzPct val="64285"/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sz="2800" spc="-10">
                <a:latin typeface="Calibri"/>
                <a:cs typeface="Calibri"/>
              </a:rPr>
              <a:t>Applications</a:t>
            </a:r>
            <a:r>
              <a:rPr sz="2800" spc="-15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&amp;</a:t>
            </a:r>
            <a:r>
              <a:rPr sz="2800" spc="-60">
                <a:latin typeface="Calibri"/>
                <a:cs typeface="Calibri"/>
              </a:rPr>
              <a:t> </a:t>
            </a:r>
            <a:r>
              <a:rPr sz="2800" spc="-10">
                <a:latin typeface="Calibri"/>
                <a:cs typeface="Calibri"/>
              </a:rPr>
              <a:t>Recommendations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60"/>
              </a:spcBef>
              <a:buSzPct val="64285"/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sz="2800">
                <a:latin typeface="Calibri"/>
                <a:cs typeface="Calibri"/>
              </a:rPr>
              <a:t>Conclusion</a:t>
            </a:r>
            <a:r>
              <a:rPr sz="2800" spc="-20">
                <a:latin typeface="Calibri"/>
                <a:cs typeface="Calibri"/>
              </a:rPr>
              <a:t> </a:t>
            </a:r>
            <a:r>
              <a:rPr sz="2800">
                <a:latin typeface="Calibri"/>
                <a:cs typeface="Calibri"/>
              </a:rPr>
              <a:t>&amp;</a:t>
            </a:r>
            <a:r>
              <a:rPr sz="2800" spc="-60">
                <a:latin typeface="Calibri"/>
                <a:cs typeface="Calibri"/>
              </a:rPr>
              <a:t> </a:t>
            </a:r>
            <a:r>
              <a:rPr sz="2800" spc="-25">
                <a:latin typeface="Calibri"/>
                <a:cs typeface="Calibri"/>
              </a:rPr>
              <a:t>Q&amp;A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1D5DA93E-25C7-235B-39E1-87F4D92E2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0"/>
            <a:ext cx="3029373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176324" y="926339"/>
            <a:ext cx="4462476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>
                <a:latin typeface="Calibri"/>
                <a:cs typeface="Calibri"/>
              </a:rPr>
              <a:t>Project</a:t>
            </a:r>
            <a:r>
              <a:rPr lang="en-IN" spc="-130">
                <a:latin typeface="Calibri"/>
                <a:cs typeface="Calibri"/>
              </a:rPr>
              <a:t> </a:t>
            </a:r>
            <a:r>
              <a:rPr lang="en-IN" spc="-10">
                <a:latin typeface="Calibri"/>
                <a:cs typeface="Calibri"/>
              </a:rPr>
              <a:t>Overview</a:t>
            </a:r>
            <a:br>
              <a:rPr lang="en-IN">
                <a:latin typeface="Calibri"/>
                <a:cs typeface="Calibri"/>
              </a:rPr>
            </a:br>
            <a:endParaRPr spc="-45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0CB3761-4B9D-0EFF-2EE1-9ED0E039188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15458" y="1674915"/>
            <a:ext cx="110490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/>
              <a:t>This project focuses on analyzing Telangana’s weather conditions using Power BI to derive actionable insights from multi-year meteorological data</a:t>
            </a: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/>
              <a:t>The analysis covers </a:t>
            </a:r>
            <a:r>
              <a:rPr lang="en-US" sz="2000" b="1"/>
              <a:t>rainfall, temperature, humidity, and wind speed</a:t>
            </a:r>
            <a:r>
              <a:rPr lang="en-US" sz="2000"/>
              <a:t> across </a:t>
            </a:r>
            <a:r>
              <a:rPr lang="en-US" sz="2000" b="1"/>
              <a:t>33 districts</a:t>
            </a:r>
            <a:r>
              <a:rPr lang="en-US" sz="2000"/>
              <a:t> from </a:t>
            </a:r>
            <a:r>
              <a:rPr lang="en-US" sz="2000" b="1"/>
              <a:t>2021–2024</a:t>
            </a:r>
            <a:r>
              <a:rPr lang="en-US" sz="2000"/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/>
              <a:t>The objective is to track weather trends, identify anomalies, and compare climatic patterns across districts and time periods for informed environmental planning and agricultural forecasting.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000" b="1"/>
              <a:t>Key metrics visualized include: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/>
              <a:t>Average &amp; Total Rainfall (mm)</a:t>
            </a:r>
            <a:endParaRPr lang="en-IN" sz="2000" b="1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/>
              <a:t>Average Temperature (°C) and Temperature Range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/>
              <a:t>Average Humidity (%) and Humidity Range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/>
              <a:t>Wind Speed (Kmph) and Trend Analysis</a:t>
            </a:r>
            <a:endParaRPr lang="en-IN" sz="2000" b="1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2000" b="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C2F0AE5-3EA1-733C-D2BF-4E11159F1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-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&amp; Total Rainfall (mm)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CF79B01B-CAE3-29AD-BA16-AAFDDBB98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5"/>
            <a:ext cx="3029373" cy="531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948E-AD35-F8C4-8408-A2FD31A0B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4587" y="914400"/>
            <a:ext cx="4208145" cy="1477328"/>
          </a:xfrm>
        </p:spPr>
        <p:txBody>
          <a:bodyPr/>
          <a:lstStyle/>
          <a:p>
            <a:r>
              <a:rPr lang="en-IN">
                <a:latin typeface="Calibri"/>
                <a:cs typeface="Calibri"/>
              </a:rPr>
              <a:t>Data</a:t>
            </a:r>
            <a:r>
              <a:rPr lang="en-IN" spc="-105">
                <a:latin typeface="Calibri"/>
                <a:cs typeface="Calibri"/>
              </a:rPr>
              <a:t> </a:t>
            </a:r>
            <a:r>
              <a:rPr lang="en-IN" spc="-10">
                <a:latin typeface="Calibri"/>
                <a:cs typeface="Calibri"/>
              </a:rPr>
              <a:t>Source</a:t>
            </a:r>
            <a:br>
              <a:rPr lang="en-IN">
                <a:latin typeface="Calibri"/>
                <a:cs typeface="Calibri"/>
              </a:rPr>
            </a:b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103155-7C05-E116-18DE-B1F2327ADDDF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184587" y="1950422"/>
            <a:ext cx="9601200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/>
              <a:t>The dataset includes </a:t>
            </a:r>
            <a:r>
              <a:rPr lang="en-US" b="1"/>
              <a:t>Telangana district-level weather records</a:t>
            </a:r>
            <a:r>
              <a:rPr lang="en-US"/>
              <a:t> obtained from meteorological repositories</a:t>
            </a:r>
            <a:r>
              <a:rPr kumimoji="0" lang="en-US" altLang="en-US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/>
              <a:t>Key columns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District, Mandal, Year, Month, Quarter, Rainfall (mm), Max/Min Temp (°C), Max/Min Humidity (%), Max/Min Wind Speed (Kmph)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/>
              <a:t>Data cleaning involved: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Removing missing/null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Formatting date and time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Ensuring consistent measurement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This refined dataset was used to generate district- and year-level KPIs and dynamic visuals.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337C2BA1-4573-D9B9-6242-3B50E5EA5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0"/>
            <a:ext cx="30293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3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8247-8FBE-1344-FC59-4D8566EEF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990601"/>
            <a:ext cx="4724400" cy="1066800"/>
          </a:xfrm>
        </p:spPr>
        <p:txBody>
          <a:bodyPr/>
          <a:lstStyle/>
          <a:p>
            <a:r>
              <a:rPr lang="en-IN">
                <a:latin typeface="Calibri"/>
                <a:cs typeface="Calibri"/>
              </a:rPr>
              <a:t>Data</a:t>
            </a:r>
            <a:r>
              <a:rPr lang="en-IN" spc="-114">
                <a:latin typeface="Calibri"/>
                <a:cs typeface="Calibri"/>
              </a:rPr>
              <a:t> </a:t>
            </a:r>
            <a:r>
              <a:rPr lang="en-IN" spc="-10">
                <a:latin typeface="Calibri"/>
                <a:cs typeface="Calibri"/>
              </a:rPr>
              <a:t>preparation</a:t>
            </a:r>
            <a:br>
              <a:rPr lang="en-IN">
                <a:latin typeface="Calibri"/>
                <a:cs typeface="Calibri"/>
              </a:rPr>
            </a:b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2B875-A28D-5073-6ABB-B9C2560E7D7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43000" y="2133600"/>
            <a:ext cx="9220200" cy="276998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/>
              <a:t>Data preparation and modeling were performed in Power BI using Power Query and DAX: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Created calculated columns for </a:t>
            </a:r>
            <a:r>
              <a:rPr lang="en-US" i="1"/>
              <a:t>Average Rainfall, Temperature Range, Humidity Range, and Wind Speed Range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Established relationships between </a:t>
            </a:r>
            <a:r>
              <a:rPr lang="en-US" i="1"/>
              <a:t>Year</a:t>
            </a:r>
            <a:r>
              <a:rPr lang="en-US"/>
              <a:t>, </a:t>
            </a:r>
            <a:r>
              <a:rPr lang="en-US" i="1"/>
              <a:t>District</a:t>
            </a:r>
            <a:r>
              <a:rPr lang="en-US"/>
              <a:t>, and </a:t>
            </a:r>
            <a:r>
              <a:rPr lang="en-US" i="1"/>
              <a:t>Weather Metrics</a:t>
            </a:r>
            <a:r>
              <a:rPr lang="en-US"/>
              <a:t>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Applied transformations for seasonal and quarterly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Built measures for </a:t>
            </a:r>
            <a:r>
              <a:rPr lang="en-US" i="1"/>
              <a:t>Trend Analysis</a:t>
            </a:r>
            <a:r>
              <a:rPr lang="en-US"/>
              <a:t>, </a:t>
            </a:r>
            <a:r>
              <a:rPr lang="en-US" i="1"/>
              <a:t>Sum of Metrics</a:t>
            </a:r>
            <a:r>
              <a:rPr lang="en-US"/>
              <a:t>, and </a:t>
            </a:r>
            <a:r>
              <a:rPr lang="en-US" i="1"/>
              <a:t>Average Calculations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Enabled drill-through, slicers, and interactive filters for detailed district comparisons.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03892AF5-BF3E-FF75-F67F-D99AA29AB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0"/>
            <a:ext cx="30293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92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FB3A-A113-3F4C-2F4F-88F417FAB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838200"/>
            <a:ext cx="8023301" cy="685800"/>
          </a:xfrm>
        </p:spPr>
        <p:txBody>
          <a:bodyPr/>
          <a:lstStyle/>
          <a:p>
            <a:r>
              <a:rPr lang="en-IN">
                <a:latin typeface="Calibri"/>
                <a:cs typeface="Calibri"/>
              </a:rPr>
              <a:t>Dashboard</a:t>
            </a:r>
            <a:r>
              <a:rPr lang="en-IN" spc="-135">
                <a:latin typeface="Calibri"/>
                <a:cs typeface="Calibri"/>
              </a:rPr>
              <a:t> </a:t>
            </a:r>
            <a:r>
              <a:rPr lang="en-IN" spc="-10">
                <a:latin typeface="Calibri"/>
                <a:cs typeface="Calibri"/>
              </a:rPr>
              <a:t>Visualizations</a:t>
            </a:r>
            <a:br>
              <a:rPr lang="en-IN">
                <a:latin typeface="Calibri"/>
                <a:cs typeface="Calibri"/>
              </a:rPr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2AB9-0B88-CF9A-8556-6F575BCDD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1982450"/>
            <a:ext cx="10634676" cy="375487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/>
              <a:t>Developed 7 interactive dashboards, each highlighting a different weather aspect: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Average of Rain Dashboard</a:t>
            </a:r>
            <a:r>
              <a:rPr lang="en-US"/>
              <a:t> – Yearly rainfall anomalies and district comparisons.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Comprehensive Insights Dashboard</a:t>
            </a:r>
            <a:r>
              <a:rPr lang="en-US"/>
              <a:t> – Combined overview of rainfall, temperature, humidity, and wind speed.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Humidity Insights Dashboards (1 &amp; 2)</a:t>
            </a:r>
            <a:r>
              <a:rPr lang="en-US"/>
              <a:t> – Quarterly and district-level humidity variation and trend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Rainfall Analysis Dashboard</a:t>
            </a:r>
            <a:r>
              <a:rPr lang="en-US"/>
              <a:t> – District rainfall distribution by year and mandal-level contribution.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Rainfall Values Dashboard</a:t>
            </a:r>
            <a:r>
              <a:rPr lang="en-US"/>
              <a:t> – Geographic rainfall mapping and annual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Temperature Insights Dashboard</a:t>
            </a:r>
            <a:r>
              <a:rPr lang="en-US"/>
              <a:t> – Yearly and monthly temperature fluctuations across districts.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Wind Speed Insights Dashboard</a:t>
            </a:r>
            <a:r>
              <a:rPr lang="en-US"/>
              <a:t> – Wind speed range and trends with district-wise breakdowns.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62392A4D-E8E1-63FC-3EA3-0B32D687E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091" y="6324600"/>
            <a:ext cx="30293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47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" y="6334315"/>
            <a:ext cx="12192000" cy="523875"/>
            <a:chOff x="14" y="6334315"/>
            <a:chExt cx="12192000" cy="523875"/>
          </a:xfrm>
        </p:grpSpPr>
        <p:sp>
          <p:nvSpPr>
            <p:cNvPr id="3" name="object 3"/>
            <p:cNvSpPr/>
            <p:nvPr/>
          </p:nvSpPr>
          <p:spPr>
            <a:xfrm>
              <a:off x="3175" y="6400799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825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825" y="457199"/>
                  </a:lnTo>
                  <a:lnTo>
                    <a:pt x="12188825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" y="633431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825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825" y="64008"/>
                  </a:lnTo>
                  <a:lnTo>
                    <a:pt x="12188825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1998562" y="351358"/>
            <a:ext cx="193675" cy="640715"/>
          </a:xfrm>
          <a:custGeom>
            <a:avLst/>
            <a:gdLst/>
            <a:ahLst/>
            <a:cxnLst/>
            <a:rect l="l" t="t" r="r" b="b"/>
            <a:pathLst>
              <a:path w="193675" h="640715">
                <a:moveTo>
                  <a:pt x="0" y="640511"/>
                </a:moveTo>
                <a:lnTo>
                  <a:pt x="193437" y="640511"/>
                </a:lnTo>
                <a:lnTo>
                  <a:pt x="193437" y="0"/>
                </a:lnTo>
                <a:lnTo>
                  <a:pt x="0" y="0"/>
                </a:lnTo>
                <a:lnTo>
                  <a:pt x="0" y="640511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804887" y="349009"/>
            <a:ext cx="193675" cy="599440"/>
          </a:xfrm>
          <a:custGeom>
            <a:avLst/>
            <a:gdLst/>
            <a:ahLst/>
            <a:cxnLst/>
            <a:rect l="l" t="t" r="r" b="b"/>
            <a:pathLst>
              <a:path w="193675" h="599440">
                <a:moveTo>
                  <a:pt x="0" y="598970"/>
                </a:moveTo>
                <a:lnTo>
                  <a:pt x="193421" y="598970"/>
                </a:lnTo>
                <a:lnTo>
                  <a:pt x="193421" y="0"/>
                </a:lnTo>
                <a:lnTo>
                  <a:pt x="0" y="0"/>
                </a:lnTo>
                <a:lnTo>
                  <a:pt x="0" y="598970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274CC5-44FA-F72F-2343-CB7B767EA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88838" cy="6331967"/>
          </a:xfrm>
          <a:prstGeom prst="rect">
            <a:avLst/>
          </a:prstGeom>
        </p:spPr>
      </p:pic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54154615-124C-B419-828A-8303F9001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31966"/>
            <a:ext cx="3029373" cy="5260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9B125D08-AA6B-C21A-1B95-43F1B0A6C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324600"/>
          </a:xfrm>
          <a:prstGeom prst="rect">
            <a:avLst/>
          </a:prstGeom>
        </p:spPr>
      </p:pic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40DD3633-AF33-42FF-D57A-85B47108F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0"/>
            <a:ext cx="30293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11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51358"/>
            <a:ext cx="87630" cy="640715"/>
          </a:xfrm>
          <a:custGeom>
            <a:avLst/>
            <a:gdLst/>
            <a:ahLst/>
            <a:cxnLst/>
            <a:rect l="l" t="t" r="r" b="b"/>
            <a:pathLst>
              <a:path w="87630" h="640715">
                <a:moveTo>
                  <a:pt x="0" y="640511"/>
                </a:moveTo>
                <a:lnTo>
                  <a:pt x="87462" y="640511"/>
                </a:lnTo>
                <a:lnTo>
                  <a:pt x="87462" y="0"/>
                </a:lnTo>
                <a:lnTo>
                  <a:pt x="0" y="0"/>
                </a:lnTo>
                <a:lnTo>
                  <a:pt x="0" y="640511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086041" y="351358"/>
            <a:ext cx="106045" cy="640715"/>
          </a:xfrm>
          <a:custGeom>
            <a:avLst/>
            <a:gdLst/>
            <a:ahLst/>
            <a:cxnLst/>
            <a:rect l="l" t="t" r="r" b="b"/>
            <a:pathLst>
              <a:path w="106045" h="640715">
                <a:moveTo>
                  <a:pt x="0" y="640511"/>
                </a:moveTo>
                <a:lnTo>
                  <a:pt x="105958" y="640511"/>
                </a:lnTo>
                <a:lnTo>
                  <a:pt x="105958" y="0"/>
                </a:lnTo>
                <a:lnTo>
                  <a:pt x="0" y="0"/>
                </a:lnTo>
                <a:lnTo>
                  <a:pt x="0" y="640511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65213"/>
            <a:ext cx="87630" cy="613410"/>
          </a:xfrm>
          <a:custGeom>
            <a:avLst/>
            <a:gdLst/>
            <a:ahLst/>
            <a:cxnLst/>
            <a:rect l="l" t="t" r="r" b="b"/>
            <a:pathLst>
              <a:path w="87630" h="613410">
                <a:moveTo>
                  <a:pt x="0" y="612813"/>
                </a:moveTo>
                <a:lnTo>
                  <a:pt x="87462" y="612813"/>
                </a:lnTo>
                <a:lnTo>
                  <a:pt x="87462" y="0"/>
                </a:lnTo>
                <a:lnTo>
                  <a:pt x="0" y="0"/>
                </a:lnTo>
                <a:lnTo>
                  <a:pt x="0" y="612813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6041" y="365213"/>
            <a:ext cx="106045" cy="613410"/>
          </a:xfrm>
          <a:custGeom>
            <a:avLst/>
            <a:gdLst/>
            <a:ahLst/>
            <a:cxnLst/>
            <a:rect l="l" t="t" r="r" b="b"/>
            <a:pathLst>
              <a:path w="106045" h="613410">
                <a:moveTo>
                  <a:pt x="0" y="612813"/>
                </a:moveTo>
                <a:lnTo>
                  <a:pt x="105958" y="612813"/>
                </a:lnTo>
                <a:lnTo>
                  <a:pt x="105958" y="0"/>
                </a:lnTo>
                <a:lnTo>
                  <a:pt x="0" y="0"/>
                </a:lnTo>
                <a:lnTo>
                  <a:pt x="0" y="612813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816599E8-8250-246A-80CC-E76CDE362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324600"/>
          </a:xfrm>
          <a:prstGeom prst="rect">
            <a:avLst/>
          </a:prstGeom>
        </p:spPr>
      </p:pic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BEBF0F8E-3D52-662E-7144-2EDB4B4E85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70" y="6324600"/>
            <a:ext cx="3029373" cy="5141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ather forecast">
            <a:extLst>
              <a:ext uri="{FF2B5EF4-FFF2-40B4-BE49-F238E27FC236}">
                <a16:creationId xmlns:a16="http://schemas.microsoft.com/office/drawing/2014/main" id="{C64F4EA8-AC99-D94B-09D8-2500E34CF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324600"/>
          </a:xfrm>
          <a:prstGeom prst="rect">
            <a:avLst/>
          </a:prstGeom>
        </p:spPr>
      </p:pic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0BF44BA1-1686-2149-5C4A-ED4D1C6BE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0"/>
            <a:ext cx="30293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35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ather forecast">
            <a:extLst>
              <a:ext uri="{FF2B5EF4-FFF2-40B4-BE49-F238E27FC236}">
                <a16:creationId xmlns:a16="http://schemas.microsoft.com/office/drawing/2014/main" id="{5B3DD117-B403-F2DD-3E21-F79F32E55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324600"/>
          </a:xfrm>
          <a:prstGeom prst="rect">
            <a:avLst/>
          </a:prstGeom>
        </p:spPr>
      </p:pic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34A9F094-24EF-51FB-F7E0-3B31E7D6C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0"/>
            <a:ext cx="3029373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65213"/>
            <a:ext cx="55880" cy="613410"/>
          </a:xfrm>
          <a:custGeom>
            <a:avLst/>
            <a:gdLst/>
            <a:ahLst/>
            <a:cxnLst/>
            <a:rect l="l" t="t" r="r" b="b"/>
            <a:pathLst>
              <a:path w="55880" h="613410">
                <a:moveTo>
                  <a:pt x="0" y="612813"/>
                </a:moveTo>
                <a:lnTo>
                  <a:pt x="55659" y="612813"/>
                </a:lnTo>
                <a:lnTo>
                  <a:pt x="55659" y="0"/>
                </a:lnTo>
                <a:lnTo>
                  <a:pt x="0" y="0"/>
                </a:lnTo>
                <a:lnTo>
                  <a:pt x="0" y="612813"/>
                </a:lnTo>
                <a:close/>
              </a:path>
            </a:pathLst>
          </a:custGeom>
          <a:solidFill>
            <a:srgbClr val="484647">
              <a:alpha val="470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Picture 3" descr="A screenshot of a graph">
            <a:extLst>
              <a:ext uri="{FF2B5EF4-FFF2-40B4-BE49-F238E27FC236}">
                <a16:creationId xmlns:a16="http://schemas.microsoft.com/office/drawing/2014/main" id="{4D5863A0-5F82-47C5-9A16-523EBFCA5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324600"/>
          </a:xfrm>
          <a:prstGeom prst="rect">
            <a:avLst/>
          </a:prstGeom>
        </p:spPr>
      </p:pic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46B8FBC5-22E0-71C7-A223-4AD651DA5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0"/>
            <a:ext cx="3029373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040C17C1-630D-E2C0-A0C2-EB4A65D6F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324600"/>
          </a:xfrm>
          <a:prstGeom prst="rect">
            <a:avLst/>
          </a:prstGeom>
        </p:spPr>
      </p:pic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BC83C0E7-6076-960A-E2B5-191B00C98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0"/>
            <a:ext cx="30293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19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E5F5EBA7-BC8D-32D5-483A-786B9585C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324600"/>
          </a:xfrm>
          <a:prstGeom prst="rect">
            <a:avLst/>
          </a:prstGeom>
        </p:spPr>
      </p:pic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2C228279-5364-2BDF-8BD0-67FD8FBF9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0"/>
            <a:ext cx="30293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06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A999-C532-46E8-7768-7C7A33A99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324" y="926339"/>
            <a:ext cx="8501076" cy="1477328"/>
          </a:xfrm>
        </p:spPr>
        <p:txBody>
          <a:bodyPr/>
          <a:lstStyle/>
          <a:p>
            <a:r>
              <a:rPr lang="en-IN" spc="-10">
                <a:latin typeface="Calibri"/>
                <a:cs typeface="Calibri"/>
              </a:rPr>
              <a:t>Applications</a:t>
            </a:r>
            <a:r>
              <a:rPr lang="en-IN" spc="-15">
                <a:latin typeface="Calibri"/>
                <a:cs typeface="Calibri"/>
              </a:rPr>
              <a:t> </a:t>
            </a:r>
            <a:r>
              <a:rPr lang="en-IN">
                <a:latin typeface="Calibri"/>
                <a:cs typeface="Calibri"/>
              </a:rPr>
              <a:t>&amp;</a:t>
            </a:r>
            <a:r>
              <a:rPr lang="en-IN" spc="-10">
                <a:latin typeface="Calibri"/>
                <a:cs typeface="Calibri"/>
              </a:rPr>
              <a:t> Recommendations</a:t>
            </a:r>
            <a:r>
              <a:rPr lang="en-IN" spc="-60">
                <a:latin typeface="Calibri"/>
                <a:cs typeface="Calibri"/>
              </a:rPr>
              <a:t> </a:t>
            </a:r>
            <a:br>
              <a:rPr lang="en-IN">
                <a:latin typeface="Calibri"/>
                <a:cs typeface="Calibri"/>
              </a:rPr>
            </a:b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6DC32-FFAE-8249-B7AD-83F9D70682C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76324" y="1828801"/>
            <a:ext cx="9186876" cy="307776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/>
              <a:t>Applications: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Monitor climate trends to assist </a:t>
            </a:r>
            <a:r>
              <a:rPr lang="en-US" b="1"/>
              <a:t>agricultural planning and water management</a:t>
            </a:r>
            <a:r>
              <a:rPr lang="en-US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Identify </a:t>
            </a:r>
            <a:r>
              <a:rPr lang="en-US" b="1"/>
              <a:t>extreme weather patterns</a:t>
            </a:r>
            <a:r>
              <a:rPr lang="en-US"/>
              <a:t> and rainfall anomalies for risk mitigation.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Support </a:t>
            </a:r>
            <a:r>
              <a:rPr lang="en-US" b="1"/>
              <a:t>regional policy decisions</a:t>
            </a:r>
            <a:r>
              <a:rPr lang="en-US"/>
              <a:t> with district-level data-driven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Track </a:t>
            </a:r>
            <a:r>
              <a:rPr lang="en-US" b="1"/>
              <a:t>humidity and wind patterns</a:t>
            </a:r>
            <a:r>
              <a:rPr lang="en-US"/>
              <a:t> to forecast monsoon intensity and duration.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/>
              <a:t>Recommendations: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Integrate with </a:t>
            </a:r>
            <a:r>
              <a:rPr lang="en-US" b="1"/>
              <a:t>real-time meteorological APIs</a:t>
            </a:r>
            <a:r>
              <a:rPr lang="en-US"/>
              <a:t> for live updates.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Extend analysis to </a:t>
            </a:r>
            <a:r>
              <a:rPr lang="en-US" b="1"/>
              <a:t>predictive weather modeling</a:t>
            </a:r>
            <a:r>
              <a:rPr lang="en-US"/>
              <a:t> using AI/ML.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Use </a:t>
            </a:r>
            <a:r>
              <a:rPr lang="en-US" b="1"/>
              <a:t>automated alerts</a:t>
            </a:r>
            <a:r>
              <a:rPr lang="en-US"/>
              <a:t> for rainfall deviations and extreme temperature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Visualize </a:t>
            </a:r>
            <a:r>
              <a:rPr lang="en-US" b="1"/>
              <a:t>seasonal climate shifts</a:t>
            </a:r>
            <a:r>
              <a:rPr lang="en-US"/>
              <a:t> for better resource allocation.</a:t>
            </a:r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EFBEFF2F-CA27-7F80-0E75-73781B910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0"/>
            <a:ext cx="30293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2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78F0-FA28-54CE-B6A7-B53D87959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990599"/>
            <a:ext cx="5029200" cy="685801"/>
          </a:xfrm>
        </p:spPr>
        <p:txBody>
          <a:bodyPr/>
          <a:lstStyle/>
          <a:p>
            <a:r>
              <a:rPr lang="en-IN">
                <a:latin typeface="Calibri"/>
                <a:cs typeface="Calibri"/>
              </a:rPr>
              <a:t>Conclusion</a:t>
            </a:r>
            <a:r>
              <a:rPr lang="en-IN" spc="-20">
                <a:latin typeface="Calibri"/>
                <a:cs typeface="Calibri"/>
              </a:rPr>
              <a:t> </a:t>
            </a:r>
            <a:r>
              <a:rPr lang="en-IN">
                <a:latin typeface="Calibri"/>
                <a:cs typeface="Calibri"/>
              </a:rPr>
              <a:t>&amp;</a:t>
            </a:r>
            <a:r>
              <a:rPr lang="en-IN" spc="-60">
                <a:latin typeface="Calibri"/>
                <a:cs typeface="Calibri"/>
              </a:rPr>
              <a:t> </a:t>
            </a:r>
            <a:r>
              <a:rPr lang="en-IN" spc="-25">
                <a:latin typeface="Calibri"/>
                <a:cs typeface="Calibri"/>
              </a:rPr>
              <a:t>Q&amp;A</a:t>
            </a:r>
            <a:br>
              <a:rPr lang="en-IN">
                <a:latin typeface="Calibri"/>
                <a:cs typeface="Calibri"/>
              </a:rPr>
            </a:b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8F4B3-4753-DF31-C502-9FF3A6E0FAE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95400" y="1981200"/>
            <a:ext cx="9067800" cy="28931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The Telangana Weather Data Analysis project effectively visualizes </a:t>
            </a:r>
            <a:r>
              <a:rPr lang="en-US" sz="2400" b="1"/>
              <a:t>multi-year climatic trends</a:t>
            </a:r>
            <a:r>
              <a:rPr lang="en-US" sz="2400"/>
              <a:t> and district-level variations using </a:t>
            </a:r>
            <a:r>
              <a:rPr lang="en-US" sz="2400" b="1"/>
              <a:t>Power BI dashboards</a:t>
            </a:r>
            <a:r>
              <a:rPr lang="en-US" sz="2400"/>
              <a:t>.\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It demonstrates the potential of </a:t>
            </a:r>
            <a:r>
              <a:rPr lang="en-US" sz="2400" b="1"/>
              <a:t>data visualization in environmental analytics</a:t>
            </a:r>
            <a:r>
              <a:rPr lang="en-US" sz="2400"/>
              <a:t>, enabling proactive planning and decision-making.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Future enhancements can include </a:t>
            </a:r>
            <a:r>
              <a:rPr lang="en-US" sz="2400" b="1"/>
              <a:t>predictive forecasting</a:t>
            </a:r>
            <a:r>
              <a:rPr lang="en-US" sz="2400"/>
              <a:t> and </a:t>
            </a:r>
            <a:r>
              <a:rPr lang="en-US" sz="2400" b="1"/>
              <a:t>real-time data dashboards</a:t>
            </a:r>
            <a:r>
              <a:rPr lang="en-US" sz="2400"/>
              <a:t> for continuous monitoring.</a:t>
            </a:r>
          </a:p>
          <a:p>
            <a:endParaRPr lang="en-IN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2F5805DF-10B2-6295-DC79-37456E075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0"/>
            <a:ext cx="3029373" cy="52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06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1213" y="3156661"/>
            <a:ext cx="2363470" cy="1366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spc="325">
                <a:solidFill>
                  <a:srgbClr val="C00000"/>
                </a:solidFill>
                <a:latin typeface="Palatino Linotype"/>
                <a:cs typeface="Palatino Linotype"/>
              </a:rPr>
              <a:t>THANK </a:t>
            </a:r>
            <a:r>
              <a:rPr sz="4400" spc="400">
                <a:solidFill>
                  <a:srgbClr val="C00000"/>
                </a:solidFill>
                <a:latin typeface="Palatino Linotype"/>
                <a:cs typeface="Palatino Linotype"/>
              </a:rPr>
              <a:t>YOU</a:t>
            </a:r>
            <a:endParaRPr sz="4400">
              <a:latin typeface="Palatino Linotype"/>
              <a:cs typeface="Palatino Linotype"/>
            </a:endParaRPr>
          </a:p>
        </p:txBody>
      </p:sp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81599CA0-2E55-E59E-8BA0-5F193381D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627" y="6324600"/>
            <a:ext cx="3029373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  Agenda</vt:lpstr>
      <vt:lpstr>Project Overview </vt:lpstr>
      <vt:lpstr>Data Source </vt:lpstr>
      <vt:lpstr>Data preparation </vt:lpstr>
      <vt:lpstr>Dashboard Visualizations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&amp; Recommendations  </vt:lpstr>
      <vt:lpstr>Conclusion &amp; Q&amp;A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revision>1</cp:revision>
  <dcterms:created xsi:type="dcterms:W3CDTF">2025-10-23T14:00:34Z</dcterms:created>
  <dcterms:modified xsi:type="dcterms:W3CDTF">2025-11-01T04:30:47Z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2025-10-23T00:00:00Z</vt:filetime>
  </property>
  <property fmtid="{D5CDD505-2E9C-101B-9397-08002B2CF9AE}" pid="5" name="Producer">
    <vt:lpwstr>Microsoft® PowerPoint® 2021</vt:lpwstr>
  </property>
</Properties>
</file>